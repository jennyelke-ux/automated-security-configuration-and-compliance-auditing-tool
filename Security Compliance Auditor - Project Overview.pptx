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image" Target="../media/image8.png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image" Target="../media/image7.png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9.png"/><Relationship Id="rId30" Type="http://schemas.openxmlformats.org/officeDocument/2006/relationships/notesSlide" Target="../notesSlides/notesSlide4.xml"/><Relationship Id="rId3" Type="http://schemas.openxmlformats.org/officeDocument/2006/relationships/tags" Target="../tags/tag2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44.xml"/><Relationship Id="rId27" Type="http://schemas.openxmlformats.org/officeDocument/2006/relationships/tags" Target="../tags/tag43.xml"/><Relationship Id="rId26" Type="http://schemas.openxmlformats.org/officeDocument/2006/relationships/tags" Target="../tags/tag42.xml"/><Relationship Id="rId25" Type="http://schemas.openxmlformats.org/officeDocument/2006/relationships/image" Target="../media/image8.png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2.xml"/><Relationship Id="rId19" Type="http://schemas.openxmlformats.org/officeDocument/2006/relationships/tags" Target="../tags/tag36.xml"/><Relationship Id="rId18" Type="http://schemas.openxmlformats.org/officeDocument/2006/relationships/image" Target="../media/image7.png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4.png"/><Relationship Id="rId10" Type="http://schemas.openxmlformats.org/officeDocument/2006/relationships/tags" Target="../tags/tag29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image" Target="../media/image9.png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86.xml"/><Relationship Id="rId35" Type="http://schemas.openxmlformats.org/officeDocument/2006/relationships/tags" Target="../tags/tag85.xml"/><Relationship Id="rId34" Type="http://schemas.openxmlformats.org/officeDocument/2006/relationships/image" Target="../media/image8.png"/><Relationship Id="rId33" Type="http://schemas.openxmlformats.org/officeDocument/2006/relationships/tags" Target="../tags/tag84.xml"/><Relationship Id="rId32" Type="http://schemas.openxmlformats.org/officeDocument/2006/relationships/tags" Target="../tags/tag83.xml"/><Relationship Id="rId31" Type="http://schemas.openxmlformats.org/officeDocument/2006/relationships/tags" Target="../tags/tag82.xml"/><Relationship Id="rId30" Type="http://schemas.openxmlformats.org/officeDocument/2006/relationships/tags" Target="../tags/tag81.xml"/><Relationship Id="rId3" Type="http://schemas.openxmlformats.org/officeDocument/2006/relationships/tags" Target="../tags/tag59.xml"/><Relationship Id="rId29" Type="http://schemas.openxmlformats.org/officeDocument/2006/relationships/tags" Target="../tags/tag80.xml"/><Relationship Id="rId28" Type="http://schemas.openxmlformats.org/officeDocument/2006/relationships/image" Target="../media/image13.png"/><Relationship Id="rId27" Type="http://schemas.openxmlformats.org/officeDocument/2006/relationships/tags" Target="../tags/tag79.xml"/><Relationship Id="rId26" Type="http://schemas.openxmlformats.org/officeDocument/2006/relationships/tags" Target="../tags/tag78.xml"/><Relationship Id="rId25" Type="http://schemas.openxmlformats.org/officeDocument/2006/relationships/tags" Target="../tags/tag77.xml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image" Target="../media/image7.png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image" Target="../media/image4.png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11.png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7" name="Text 4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YEAR PROJECT  •  CAMTEL INTERNSHIP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51460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Security Configuration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&amp; Compliance Auditing Tool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8046720" cy="1323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self-service tool that continuously checks Windows endpoints and network devices against security baselines replacing slow, manual, point-in-time audits with automated, repeatable compliance verification.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Ehabe Jenny Elke Epolle   |   B.Sc. Cybersecurity, ICT University Yaoundé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configuration drift is one of the most common and most preventable causes of breaches. Today it is mostly caught manually, and late</a:t>
            </a: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4290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0472" y="2139696"/>
            <a:ext cx="658368" cy="658368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6" name="Image 0" descr="/home/claude/deck/icons/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480" y="229770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2608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Slow, periodic checks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176272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audits happen quarterly or yearly, leaving long windows where misconfigurations go undetected.</a:t>
            </a:r>
            <a:endParaRPr lang="en-US" sz="1600" dirty="0">
              <a:solidFill>
                <a:srgbClr val="5C7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46704" y="1874520"/>
            <a:ext cx="2542032" cy="34290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3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88536" y="2139696"/>
            <a:ext cx="658368" cy="658368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1" name="Image 1" descr="/home/claude/deck/icons/users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544" y="229770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92608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continuous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9584" y="3566160"/>
            <a:ext cx="2176272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a system passes an audit, no one re-checks it until the next cycle — drift goes unnoticed.</a:t>
            </a:r>
            <a:endParaRPr lang="en-US" sz="1600" dirty="0">
              <a:solidFill>
                <a:srgbClr val="5C7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44768" y="1874520"/>
            <a:ext cx="2542032" cy="34290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3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139696"/>
            <a:ext cx="658368" cy="658368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6" name="Image 2" descr="/home/claude/deck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608" y="229770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92608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error &amp; inconsistency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566160"/>
            <a:ext cx="2176272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comparing hundreds of settings against a baseline is tedious and easy to get wrong</a:t>
            </a: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42832" y="1874520"/>
            <a:ext cx="2542032" cy="34290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3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84664" y="2139696"/>
            <a:ext cx="658368" cy="658368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1" name="Image 3" descr="/home/claude/dec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672" y="22977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92608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poorly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25712" y="3566160"/>
            <a:ext cx="2176272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 and network devices multiply faster than a manual review process can keep up with.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3" name="Shape 1"/>
          <p:cNvSpPr/>
          <p:nvPr/>
        </p:nvSpPr>
        <p:spPr>
          <a:xfrm>
            <a:off x="1691640" y="10058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" name="Image 0" descr="/home/claude/deck/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96" y="12252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488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Tool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automatically scans a system, compares it to a trusted security baseline, and tells you exactly what is wrong and how severe it is.</a:t>
            </a:r>
            <a:endParaRPr lang="en-US" sz="125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5006340" y="75438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1" descr="/home/claude/deck/icons/search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170932" y="91897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943600" y="42976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943600" y="66751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943600" y="1061085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Gathers current configuration data from Windows endpoints (agent) and network devices (SSH/SNMP).</a:t>
            </a:r>
            <a:endParaRPr lang="en-US" dirty="0"/>
          </a:p>
        </p:txBody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5006340" y="2171700"/>
            <a:ext cx="685800" cy="68580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4" name="Image 2" descr="/home/claude/deck/icons/layers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70932" y="233629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1"/>
            </p:custDataLst>
          </p:nvPr>
        </p:nvSpPr>
        <p:spPr>
          <a:xfrm>
            <a:off x="5943600" y="184708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>
            <p:custDataLst>
              <p:tags r:id="rId12"/>
            </p:custDataLst>
          </p:nvPr>
        </p:nvSpPr>
        <p:spPr>
          <a:xfrm>
            <a:off x="5943600" y="208483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13"/>
            </p:custDataLst>
          </p:nvPr>
        </p:nvSpPr>
        <p:spPr>
          <a:xfrm>
            <a:off x="5943600" y="246888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each setting against recognized security baselines, such as CIS Benchmarks</a:t>
            </a:r>
            <a:r>
              <a:rPr lang="en-US" sz="125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Shape 13"/>
          <p:cNvSpPr/>
          <p:nvPr>
            <p:custDataLst>
              <p:tags r:id="rId14"/>
            </p:custDataLst>
          </p:nvPr>
        </p:nvSpPr>
        <p:spPr>
          <a:xfrm>
            <a:off x="5006340" y="358902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3" descr="/home/claude/deck/icons/gauge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170932" y="375361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17"/>
            </p:custDataLst>
          </p:nvPr>
        </p:nvSpPr>
        <p:spPr>
          <a:xfrm>
            <a:off x="5943600" y="326440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5"/>
          <p:cNvSpPr/>
          <p:nvPr>
            <p:custDataLst>
              <p:tags r:id="rId18"/>
            </p:custDataLst>
          </p:nvPr>
        </p:nvSpPr>
        <p:spPr>
          <a:xfrm>
            <a:off x="5943600" y="350215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</a:t>
            </a:r>
            <a:endParaRPr lang="en-US" sz="1600" dirty="0"/>
          </a:p>
        </p:txBody>
      </p:sp>
      <p:sp>
        <p:nvSpPr>
          <p:cNvPr id="22" name="Text 16"/>
          <p:cNvSpPr/>
          <p:nvPr>
            <p:custDataLst>
              <p:tags r:id="rId19"/>
            </p:custDataLst>
          </p:nvPr>
        </p:nvSpPr>
        <p:spPr>
          <a:xfrm>
            <a:off x="5943600" y="388620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a severity-based risk score to every deviation found — not just a pass/fail flag</a:t>
            </a:r>
            <a:r>
              <a:rPr lang="en-US" sz="125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Shape 17"/>
          <p:cNvSpPr/>
          <p:nvPr>
            <p:custDataLst>
              <p:tags r:id="rId20"/>
            </p:custDataLst>
          </p:nvPr>
        </p:nvSpPr>
        <p:spPr>
          <a:xfrm>
            <a:off x="5006340" y="5006340"/>
            <a:ext cx="685800" cy="68580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4" name="Image 4" descr="/home/claude/deck/icons/fil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170932" y="5170932"/>
            <a:ext cx="356616" cy="356616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23"/>
            </p:custDataLst>
          </p:nvPr>
        </p:nvSpPr>
        <p:spPr>
          <a:xfrm>
            <a:off x="5943600" y="468172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19"/>
          <p:cNvSpPr/>
          <p:nvPr>
            <p:custDataLst>
              <p:tags r:id="rId24"/>
            </p:custDataLst>
          </p:nvPr>
        </p:nvSpPr>
        <p:spPr>
          <a:xfrm>
            <a:off x="5943600" y="491947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600" dirty="0"/>
          </a:p>
        </p:txBody>
      </p:sp>
      <p:sp>
        <p:nvSpPr>
          <p:cNvPr id="27" name="Text 20"/>
          <p:cNvSpPr/>
          <p:nvPr>
            <p:custDataLst>
              <p:tags r:id="rId25"/>
            </p:custDataLst>
          </p:nvPr>
        </p:nvSpPr>
        <p:spPr>
          <a:xfrm>
            <a:off x="5943600" y="530352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a clear compliance report so gaps can be prioritized and fixed quickly</a:t>
            </a:r>
            <a:r>
              <a:rPr lang="en-US" sz="125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Specific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concrete objectives define the scope of the project.</a:t>
            </a: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88900" dist="38100" dir="5400000" algn="bl" rotWithShape="0">
              <a:srgbClr val="1B2A38">
                <a:alpha val="15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45820" y="2377440"/>
            <a:ext cx="777240" cy="7772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6" name="Image 0" descr="/home/claude/deck/icons/cpu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32358" y="25639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783080" y="1892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1783080" y="216712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configuration scanning</a:t>
            </a:r>
            <a:endParaRPr lang="en-US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1783080" y="267919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collection agents/scripts that pull configuration data from Windows endpoints and network devices without manual intervention.</a:t>
            </a: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5989320" y="169164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88900" dist="38100" dir="5400000" algn="bl" rotWithShape="0">
              <a:srgbClr val="1B2A38">
                <a:alpha val="15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6286500" y="2377440"/>
            <a:ext cx="777240" cy="7772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2" name="Image 1" descr="/home/claude/deck/icons/layers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473038" y="25639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7223760" y="1892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7223760" y="216712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against security baselines</a:t>
            </a:r>
            <a:endParaRPr lang="en-US" dirty="0"/>
          </a:p>
        </p:txBody>
      </p:sp>
      <p:sp>
        <p:nvSpPr>
          <p:cNvPr id="15" name="Text 11"/>
          <p:cNvSpPr/>
          <p:nvPr>
            <p:custDataLst>
              <p:tags r:id="rId14"/>
            </p:custDataLst>
          </p:nvPr>
        </p:nvSpPr>
        <p:spPr>
          <a:xfrm>
            <a:off x="7223760" y="267919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collected configurations against recognized standards (e.g. CIS Benchmarks) to identify deviations.</a:t>
            </a:r>
            <a:endParaRPr lang="en-US" sz="1600" dirty="0"/>
          </a:p>
        </p:txBody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548640" y="41148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88900" dist="38100" dir="5400000" algn="bl" rotWithShape="0">
              <a:srgbClr val="1B2A38">
                <a:alpha val="15000"/>
              </a:srgbClr>
            </a:outerShdw>
          </a:effectLst>
        </p:spPr>
      </p:sp>
      <p:sp>
        <p:nvSpPr>
          <p:cNvPr id="17" name="Shape 13"/>
          <p:cNvSpPr/>
          <p:nvPr>
            <p:custDataLst>
              <p:tags r:id="rId16"/>
            </p:custDataLst>
          </p:nvPr>
        </p:nvSpPr>
        <p:spPr>
          <a:xfrm>
            <a:off x="845820" y="4800600"/>
            <a:ext cx="777240" cy="7772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8" name="Image 2" descr="/home/claude/deck/icons/gauge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32358" y="498713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9"/>
            </p:custDataLst>
          </p:nvPr>
        </p:nvSpPr>
        <p:spPr>
          <a:xfrm>
            <a:off x="1783080" y="43159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5"/>
          <p:cNvSpPr/>
          <p:nvPr>
            <p:custDataLst>
              <p:tags r:id="rId20"/>
            </p:custDataLst>
          </p:nvPr>
        </p:nvSpPr>
        <p:spPr>
          <a:xfrm>
            <a:off x="1783080" y="459028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severity-based risk scoring</a:t>
            </a:r>
            <a:endParaRPr lang="en-US" dirty="0"/>
          </a:p>
        </p:txBody>
      </p:sp>
      <p:sp>
        <p:nvSpPr>
          <p:cNvPr id="21" name="Text 16"/>
          <p:cNvSpPr/>
          <p:nvPr>
            <p:custDataLst>
              <p:tags r:id="rId21"/>
            </p:custDataLst>
          </p:nvPr>
        </p:nvSpPr>
        <p:spPr>
          <a:xfrm>
            <a:off x="1783080" y="510235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each non-compliant finding by severity, so the most dangerous gaps are visible first not buried in a flat list.</a:t>
            </a:r>
            <a:endParaRPr lang="en-US" sz="1600" dirty="0"/>
          </a:p>
        </p:txBody>
      </p:sp>
      <p:sp>
        <p:nvSpPr>
          <p:cNvPr id="22" name="Shape 17"/>
          <p:cNvSpPr/>
          <p:nvPr>
            <p:custDataLst>
              <p:tags r:id="rId22"/>
            </p:custDataLst>
          </p:nvPr>
        </p:nvSpPr>
        <p:spPr>
          <a:xfrm>
            <a:off x="5989320" y="41148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88900" dist="38100" dir="5400000" algn="bl" rotWithShape="0">
              <a:srgbClr val="1B2A38">
                <a:alpha val="15000"/>
              </a:srgbClr>
            </a:outerShdw>
          </a:effectLst>
        </p:spPr>
      </p:sp>
      <p:sp>
        <p:nvSpPr>
          <p:cNvPr id="23" name="Shape 18"/>
          <p:cNvSpPr/>
          <p:nvPr>
            <p:custDataLst>
              <p:tags r:id="rId23"/>
            </p:custDataLst>
          </p:nvPr>
        </p:nvSpPr>
        <p:spPr>
          <a:xfrm>
            <a:off x="6286500" y="4800600"/>
            <a:ext cx="777240" cy="7772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4" name="Image 3" descr="/home/claude/deck/icons/fil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473038" y="498713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/>
          <p:nvPr>
            <p:custDataLst>
              <p:tags r:id="rId26"/>
            </p:custDataLst>
          </p:nvPr>
        </p:nvSpPr>
        <p:spPr>
          <a:xfrm>
            <a:off x="7223760" y="43159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0"/>
          <p:cNvSpPr/>
          <p:nvPr>
            <p:custDataLst>
              <p:tags r:id="rId27"/>
            </p:custDataLst>
          </p:nvPr>
        </p:nvSpPr>
        <p:spPr>
          <a:xfrm>
            <a:off x="7223760" y="459028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 actionable compliance reports</a:t>
            </a:r>
            <a:endParaRPr lang="en-US" dirty="0"/>
          </a:p>
        </p:txBody>
      </p:sp>
      <p:sp>
        <p:nvSpPr>
          <p:cNvPr id="27" name="Text 21"/>
          <p:cNvSpPr/>
          <p:nvPr>
            <p:custDataLst>
              <p:tags r:id="rId28"/>
            </p:custDataLst>
          </p:nvPr>
        </p:nvSpPr>
        <p:spPr>
          <a:xfrm>
            <a:off x="7223760" y="510235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raw findings into reports that clearly guide remediation, in a format useful for both technical staff and auditors</a:t>
            </a: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Works</a:t>
            </a:r>
            <a:endParaRPr lang="en-US" sz="28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collection paths feed one compliance engine, which produces a single scored repor</a:t>
            </a: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lang="en-US" sz="1300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834640" cy="1744980"/>
          </a:xfrm>
          <a:prstGeom prst="roundRect">
            <a:avLst>
              <a:gd name="adj" fmla="val 5806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88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deck/icons/lap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1424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Endpoints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2221865"/>
            <a:ext cx="1645920" cy="930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agent reads local security &amp; config settings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15055"/>
            <a:ext cx="2834640" cy="1511935"/>
          </a:xfrm>
          <a:prstGeom prst="roundRect">
            <a:avLst>
              <a:gd name="adj" fmla="val 5806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7719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deck/icons/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39255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63931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Devices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45920" y="4005072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collection via SSH &amp; SNMP queries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383280" y="2308860"/>
            <a:ext cx="594360" cy="891540"/>
          </a:xfrm>
          <a:prstGeom prst="line">
            <a:avLst/>
          </a:prstGeom>
          <a:noFill/>
          <a:ln w="2222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83280" y="3200400"/>
            <a:ext cx="594360" cy="891540"/>
          </a:xfrm>
          <a:prstGeom prst="line">
            <a:avLst/>
          </a:prstGeom>
          <a:noFill/>
          <a:ln w="2222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069080" y="2286000"/>
            <a:ext cx="2834640" cy="2049145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0" y="2468880"/>
            <a:ext cx="731520" cy="73152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8" name="Image 2" descr="/home/claude/deck/icons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05" y="264444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06240" y="32918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Engine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251960" y="363931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E9FB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 findings against baseline rules &amp; assigns severity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903720" y="3200400"/>
            <a:ext cx="457200" cy="0"/>
          </a:xfrm>
          <a:prstGeom prst="line">
            <a:avLst/>
          </a:prstGeom>
          <a:noFill/>
          <a:ln w="2222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480560" y="14173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3315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0" y="1490472"/>
            <a:ext cx="18288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CIS Benchmarks &amp;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Rules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0" y="2103120"/>
            <a:ext cx="0" cy="182880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52360" y="22860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0" y="2834640"/>
            <a:ext cx="731520" cy="73152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7" name="Image 3" descr="/home/claude/deck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965" y="3010205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32520" y="2514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Scored Compliance Report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732520" y="2907792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ranked by severity (Critical / High / Medium / Low), with remediation guidance</a:t>
            </a:r>
            <a:r>
              <a:rPr lang="en-US" sz="110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It Fits: The CISO MindMap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Positioned using Rafeeq Rehman's CISO MindMap, a widely referenced framework of security leadership responsibilities.</a:t>
            </a:r>
            <a:endParaRPr lang="en-US" sz="2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effectLst>
            <a:outerShdw blurRad="101600" dist="38100" dir="5400000" algn="bl" rotWithShape="0">
              <a:srgbClr val="1B2A38">
                <a:alpha val="2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68680" y="2057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68680" y="205740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</a:t>
            </a:r>
            <a:endParaRPr lang="en-US" sz="11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68680" y="26974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Compliance &amp; Audit</a:t>
            </a:r>
            <a:endParaRPr lang="en-US" sz="21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868680" y="329184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 directly automates configuration compliance checks — the core activity of this branch: verifying systems against required security baselines and standards on an ongoing basis, rather than only during scheduled audits.</a:t>
            </a:r>
            <a:endParaRPr lang="en-US" sz="1600" dirty="0">
              <a:solidFill>
                <a:srgbClr val="CBD9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68680" y="48920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automated baseline scanning is a textbook compliance &amp; audit function.</a:t>
            </a:r>
            <a:endParaRPr lang="en-US" sz="1100" dirty="0"/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5989320" y="173736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38">
                <a:alpha val="15000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309360" y="20574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309360" y="20574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7" name="Text 13"/>
          <p:cNvSpPr/>
          <p:nvPr>
            <p:custDataLst>
              <p:tags r:id="rId10"/>
            </p:custDataLst>
          </p:nvPr>
        </p:nvSpPr>
        <p:spPr>
          <a:xfrm>
            <a:off x="6309360" y="2697480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Management</a:t>
            </a:r>
            <a:endParaRPr lang="en-US" sz="2100" dirty="0"/>
          </a:p>
        </p:txBody>
      </p:sp>
      <p:sp>
        <p:nvSpPr>
          <p:cNvPr id="18" name="Text 14"/>
          <p:cNvSpPr/>
          <p:nvPr>
            <p:custDataLst>
              <p:tags r:id="rId11"/>
            </p:custDataLst>
          </p:nvPr>
        </p:nvSpPr>
        <p:spPr>
          <a:xfrm>
            <a:off x="6309360" y="329184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every finding gets a severity-based risk score rather than a flat pass/fail, the tool also feeds risk management: it helps prioritize which misconfigurations pose the greatest actual risk and should be fixed first</a:t>
            </a:r>
            <a:r>
              <a:rPr lang="en-US" sz="1300" dirty="0">
                <a:solidFill>
                  <a:srgbClr val="1520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5"/>
          <p:cNvSpPr/>
          <p:nvPr>
            <p:custDataLst>
              <p:tags r:id="rId12"/>
            </p:custDataLst>
          </p:nvPr>
        </p:nvSpPr>
        <p:spPr>
          <a:xfrm>
            <a:off x="6309360" y="489204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severity scoring turns raw findings into risk-prioritized action.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auditor actually delivers, end to end.</a:t>
            </a: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6" name="Image 0" descr="/home/claude/deck/icons/cpu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085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31520" y="26060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Agent-based endpoint scanning</a:t>
            </a:r>
            <a:endParaRPr lang="en-US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31520" y="30632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Collects live configuration state directly from Windows machines.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25196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480560" y="18745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deck/icons/wifi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3417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4434840" y="26060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network device auditing</a:t>
            </a:r>
            <a:endParaRPr lang="en-US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4434840" y="30632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Reaches switches/routers via SSH and SNMP no manual login required.</a:t>
            </a:r>
            <a:endParaRPr lang="en-US" sz="160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795528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8183880" y="1874520"/>
            <a:ext cx="640080" cy="64008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6" name="Image 2" descr="/home/claude/deck/icons/layers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337499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7"/>
            </p:custDataLst>
          </p:nvPr>
        </p:nvSpPr>
        <p:spPr>
          <a:xfrm>
            <a:off x="8138160" y="26060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Baseline-driven checks</a:t>
            </a:r>
            <a:endParaRPr lang="en-US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8138160" y="30632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setting is checked against recognized benchmarks, not ad-hoc rules.</a:t>
            </a:r>
            <a:endParaRPr lang="en-US" sz="1600" dirty="0"/>
          </a:p>
        </p:txBody>
      </p:sp>
      <p:sp>
        <p:nvSpPr>
          <p:cNvPr id="19" name="Shape 14"/>
          <p:cNvSpPr/>
          <p:nvPr>
            <p:custDataLst>
              <p:tags r:id="rId19"/>
            </p:custDataLst>
          </p:nvPr>
        </p:nvSpPr>
        <p:spPr>
          <a:xfrm>
            <a:off x="54864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20" name="Shape 15"/>
          <p:cNvSpPr/>
          <p:nvPr>
            <p:custDataLst>
              <p:tags r:id="rId20"/>
            </p:custDataLst>
          </p:nvPr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deck/icons/gaug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930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3"/>
            </p:custDataLst>
          </p:nvPr>
        </p:nvSpPr>
        <p:spPr>
          <a:xfrm>
            <a:off x="731520" y="49834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Severity-based risk scoring</a:t>
            </a:r>
            <a:endParaRPr lang="en-US" sz="2000" dirty="0"/>
          </a:p>
        </p:txBody>
      </p:sp>
      <p:sp>
        <p:nvSpPr>
          <p:cNvPr id="23" name="Text 17"/>
          <p:cNvSpPr/>
          <p:nvPr>
            <p:custDataLst>
              <p:tags r:id="rId24"/>
            </p:custDataLst>
          </p:nvPr>
        </p:nvSpPr>
        <p:spPr>
          <a:xfrm>
            <a:off x="731520" y="544068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are ranked Critical → Low, so priorities are obvious at a glance.</a:t>
            </a:r>
            <a:endParaRPr lang="en-US" sz="1600" dirty="0"/>
          </a:p>
        </p:txBody>
      </p:sp>
      <p:sp>
        <p:nvSpPr>
          <p:cNvPr id="24" name="Shape 18"/>
          <p:cNvSpPr/>
          <p:nvPr>
            <p:custDataLst>
              <p:tags r:id="rId25"/>
            </p:custDataLst>
          </p:nvPr>
        </p:nvSpPr>
        <p:spPr>
          <a:xfrm>
            <a:off x="425196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25" name="Shape 19"/>
          <p:cNvSpPr/>
          <p:nvPr>
            <p:custDataLst>
              <p:tags r:id="rId26"/>
            </p:custDataLst>
          </p:nvPr>
        </p:nvSpPr>
        <p:spPr>
          <a:xfrm>
            <a:off x="4480560" y="4251960"/>
            <a:ext cx="640080" cy="64008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6" name="Image 4" descr="/home/claude/deck/icons/refresh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634179" y="44055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29"/>
            </p:custDataLst>
          </p:nvPr>
        </p:nvSpPr>
        <p:spPr>
          <a:xfrm>
            <a:off x="4434840" y="49834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Repeatable, on-demand scans</a:t>
            </a:r>
            <a:endParaRPr lang="en-US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1"/>
          <p:cNvSpPr/>
          <p:nvPr>
            <p:custDataLst>
              <p:tags r:id="rId30"/>
            </p:custDataLst>
          </p:nvPr>
        </p:nvSpPr>
        <p:spPr>
          <a:xfrm>
            <a:off x="4434840" y="544068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Re-run anytime ompliance status stays current, not stale.</a:t>
            </a:r>
            <a:endParaRPr lang="en-US" dirty="0"/>
          </a:p>
        </p:txBody>
      </p:sp>
      <p:sp>
        <p:nvSpPr>
          <p:cNvPr id="29" name="Shape 22"/>
          <p:cNvSpPr/>
          <p:nvPr>
            <p:custDataLst>
              <p:tags r:id="rId31"/>
            </p:custDataLst>
          </p:nvPr>
        </p:nvSpPr>
        <p:spPr>
          <a:xfrm>
            <a:off x="795528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</p:spPr>
      </p:sp>
      <p:sp>
        <p:nvSpPr>
          <p:cNvPr id="30" name="Shape 23"/>
          <p:cNvSpPr/>
          <p:nvPr>
            <p:custDataLst>
              <p:tags r:id="rId32"/>
            </p:custDataLst>
          </p:nvPr>
        </p:nvSpPr>
        <p:spPr>
          <a:xfrm>
            <a:off x="8183880" y="425196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1" name="Image 5" descr="/home/claude/deck/icons/file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337499" y="44055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>
            <p:custDataLst>
              <p:tags r:id="rId35"/>
            </p:custDataLst>
          </p:nvPr>
        </p:nvSpPr>
        <p:spPr>
          <a:xfrm>
            <a:off x="8138160" y="49834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reporting</a:t>
            </a:r>
            <a:endParaRPr lang="en-US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25"/>
          <p:cNvSpPr/>
          <p:nvPr>
            <p:custDataLst>
              <p:tags r:id="rId36"/>
            </p:custDataLst>
          </p:nvPr>
        </p:nvSpPr>
        <p:spPr>
          <a:xfrm>
            <a:off x="8138160" y="544068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are written to guide remediation, not just list raw data.</a:t>
            </a: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Findings Are Scored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deviation from the baseline is assigned a severity level this is what makes the tool useful for risk prioritization, not just a checklist.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64550"/>
          </a:solidFill>
        </p:spPr>
      </p:sp>
      <p:sp>
        <p:nvSpPr>
          <p:cNvPr id="5" name="Text 3"/>
          <p:cNvSpPr/>
          <p:nvPr/>
        </p:nvSpPr>
        <p:spPr>
          <a:xfrm>
            <a:off x="777240" y="192024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1920240"/>
            <a:ext cx="8366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Exposes the system to immediate compromise (e.g. default credentials, disabled firewall)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9140342" cy="777240"/>
          </a:xfrm>
          <a:prstGeom prst="roundRect">
            <a:avLst>
              <a:gd name="adj" fmla="val 941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/>
          <a:p>
            <a:endParaRPr lang="en-GB" altLang="en-US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3017520"/>
            <a:ext cx="662574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Significant weakness that materially increases attack surface if left unfixed</a:t>
            </a:r>
            <a:r>
              <a:rPr lang="en-US" sz="11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7399325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777240" y="411480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4114800"/>
            <a:ext cx="51435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Deviation from best practice; not urgent but should be scheduled for remediation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5658307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777240" y="52120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5212080"/>
            <a:ext cx="337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hardening gap with limited standalone impact.</a:t>
            </a:r>
            <a:endParaRPr lang="en-US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Matters</a:t>
            </a:r>
            <a:endParaRPr lang="en-US" sz="30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impact for an environment like CAMTEL's, where endpoints and network devices are numerous and change constantly.</a:t>
            </a:r>
            <a:endParaRPr lang="en-US" dirty="0">
              <a:solidFill>
                <a:srgbClr val="A9C1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3315C"/>
          </a:solidFill>
        </p:spPr>
      </p:sp>
      <p:sp>
        <p:nvSpPr>
          <p:cNvPr id="5" name="Shape 3"/>
          <p:cNvSpPr/>
          <p:nvPr/>
        </p:nvSpPr>
        <p:spPr>
          <a:xfrm>
            <a:off x="1431036" y="2263140"/>
            <a:ext cx="777240" cy="77724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6" name="Image 0" descr="/home/claude/deck/icons/tre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574" y="24496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Continuous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visibility instead of periodic snapshots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3315C"/>
          </a:solidFill>
        </p:spPr>
      </p:sp>
      <p:sp>
        <p:nvSpPr>
          <p:cNvPr id="10" name="Shape 7"/>
          <p:cNvSpPr/>
          <p:nvPr/>
        </p:nvSpPr>
        <p:spPr>
          <a:xfrm>
            <a:off x="4229100" y="2263140"/>
            <a:ext cx="777240" cy="77724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1" name="Image 1" descr="/home/claude/deck/icons/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38" y="24496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324612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Faster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575304" y="3749040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of high-risk misconfigurations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3315C"/>
          </a:solidFill>
        </p:spPr>
      </p:sp>
      <p:sp>
        <p:nvSpPr>
          <p:cNvPr id="15" name="Shape 11"/>
          <p:cNvSpPr/>
          <p:nvPr/>
        </p:nvSpPr>
        <p:spPr>
          <a:xfrm>
            <a:off x="7027164" y="2263140"/>
            <a:ext cx="777240" cy="77724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6" name="Image 2" descr="/home/claude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2" y="24496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324612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373368" y="3749040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many endpoints and network devices at once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3315C"/>
          </a:solidFill>
        </p:spPr>
      </p:sp>
      <p:sp>
        <p:nvSpPr>
          <p:cNvPr id="20" name="Shape 15"/>
          <p:cNvSpPr/>
          <p:nvPr/>
        </p:nvSpPr>
        <p:spPr>
          <a:xfrm>
            <a:off x="9825228" y="2263140"/>
            <a:ext cx="777240" cy="77724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21" name="Image 3" descr="/home/claude/deck/icons/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766" y="24496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324612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Audit-ready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171432" y="3749040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BD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that supports compliance obligations</a:t>
            </a:r>
            <a:endParaRPr lang="en-US" dirty="0">
              <a:solidFill>
                <a:srgbClr val="CBD9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1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71600" y="869315"/>
            <a:ext cx="9445625" cy="1897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Continuous compliance,</a:t>
            </a:r>
            <a:endParaRPr lang="en-US" sz="27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without the manual overhead.</a:t>
            </a:r>
            <a:endParaRPr lang="en-US" sz="27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71600" y="2768600"/>
            <a:ext cx="9445625" cy="1380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Security Configuration &amp; Compliance Auditing Tool</a:t>
            </a:r>
            <a:endParaRPr lang="en-US" sz="2400" dirty="0"/>
          </a:p>
        </p:txBody>
      </p:sp>
      <p:sp>
        <p:nvSpPr>
          <p:cNvPr id="8" name="Text Box 7"/>
          <p:cNvSpPr txBox="1"/>
          <p:nvPr/>
        </p:nvSpPr>
        <p:spPr>
          <a:xfrm>
            <a:off x="8592185" y="4182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2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3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4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5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6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7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8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9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0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1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2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3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4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5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6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7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8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19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20.xml><?xml version="1.0" encoding="utf-8"?>
<p:tagLst xmlns:p="http://schemas.openxmlformats.org/presentationml/2006/main">
  <p:tag name="KSO_WM_DIAGRAM_VIRTUALLY_FRAME" val="{&quot;height&quot;:448.56000000000006,&quot;left&quot;:394.2,&quot;top&quot;:33.839999999999996,&quot;width&quot;:520.2}"/>
</p:tagLst>
</file>

<file path=ppt/tags/tag21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2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3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4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5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6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7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8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29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0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1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2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3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4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5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6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7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8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39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0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1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2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3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4.xml><?xml version="1.0" encoding="utf-8"?>
<p:tagLst xmlns:p="http://schemas.openxmlformats.org/presentationml/2006/main">
  <p:tag name="KSO_WM_DIAGRAM_VIRTUALLY_FRAME" val="{&quot;height&quot;:360,&quot;left&quot;:43.2,&quot;top&quot;:133.2,&quot;width&quot;:828}"/>
</p:tagLst>
</file>

<file path=ppt/tags/tag45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46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47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48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49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0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1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2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3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4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5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6.xml><?xml version="1.0" encoding="utf-8"?>
<p:tagLst xmlns:p="http://schemas.openxmlformats.org/presentationml/2006/main">
  <p:tag name="KSO_WM_DIAGRAM_VIRTUALLY_FRAME" val="{&quot;height&quot;:295.2,&quot;left&quot;:43.2,&quot;top&quot;:136.8,&quot;width&quot;:871.2}"/>
</p:tagLst>
</file>

<file path=ppt/tags/tag57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58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59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0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1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2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3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4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5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6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7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8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69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0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1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2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3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4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5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6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7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8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79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0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1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2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3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4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5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ags/tag86.xml><?xml version="1.0" encoding="utf-8"?>
<p:tagLst xmlns:p="http://schemas.openxmlformats.org/presentationml/2006/main">
  <p:tag name="KSO_WM_DIAGRAM_VIRTUALLY_FRAME" val="{&quot;height&quot;:356.4,&quot;left&quot;:43.2,&quot;top&quot;:133.2,&quot;width&quot;:86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5474</Words>
  <Application>WPS Presentation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Jenny</cp:lastModifiedBy>
  <cp:revision>4</cp:revision>
  <dcterms:created xsi:type="dcterms:W3CDTF">2026-08-12T09:56:00Z</dcterms:created>
  <dcterms:modified xsi:type="dcterms:W3CDTF">2026-08-14T19:07:36Z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D3C17E336BEE4D16B60362139ACE02C0_12</vt:lpwstr>
  </property>
  <property fmtid="{D5CDD505-2E9C-101B-9397-08002B2CF9AE}" pid="3" name="KSOProductBuildVer">
    <vt:lpwstr>2057-12.2.0.23206</vt:lpwstr>
  </property>
</Properties>
</file>